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96" r:id="rId6"/>
    <p:sldId id="311" r:id="rId7"/>
    <p:sldId id="312" r:id="rId8"/>
    <p:sldId id="309" r:id="rId9"/>
    <p:sldId id="313" r:id="rId10"/>
    <p:sldId id="297" r:id="rId11"/>
    <p:sldId id="317" r:id="rId12"/>
    <p:sldId id="318" r:id="rId13"/>
    <p:sldId id="319" r:id="rId14"/>
    <p:sldId id="320" r:id="rId15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62"/>
    <p:restoredTop sz="85079"/>
  </p:normalViewPr>
  <p:slideViewPr>
    <p:cSldViewPr snapToGrid="0">
      <p:cViewPr varScale="1">
        <p:scale>
          <a:sx n="99" d="100"/>
          <a:sy n="99" d="100"/>
        </p:scale>
        <p:origin x="1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09EB-1001-2441-A378-49522A4295CE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5B459-FFF6-BB41-936F-F0C2046AB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Техническая документация: Система загрузки файлов из сообщений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1. Цель реализации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Реализовать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**очередь загрузки вложений сообщений**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поддержкой: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Автоматического управления очередью при восстановлении сетевого подключения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Приостановки/возобновления обработки без потери данных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Приоритизации срочных загрузок (прерывание текущей очереди)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Кэширования файлов в локальной файловой системе</a:t>
            </a:r>
          </a:p>
          <a:p>
            <a:pPr marL="171450" indent="-171450">
              <a:buFontTx/>
              <a:buChar char="-"/>
            </a:pP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Отслеживания состояния обработки (активно/неактивно)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Instant access to previously downloaded files without internet connection (offline access from cache)</a:t>
            </a:r>
          </a:p>
          <a:p>
            <a:pPr marL="171450" indent="-171450">
              <a:buFontTx/>
              <a:buChar char="-"/>
            </a:pP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3E10-BB8C-5ACB-CCF0-7976A036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95DB0-A732-FA2E-B4FA-477E3C63B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5C7C-52E3-0DF5-3195-159BD044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C650D-B1AE-F525-90CB-546633BC9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2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E25A-E124-A6F3-3F5B-ACFB58D4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4A5A7-7F03-D983-5CBE-9417B80ED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6603D8-3741-77C0-7F28-1B826E8E1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разделена на три уровня ответственности - каждый решает свою задачу, не вмешиваясь в другие.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1 - Инициация:**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Retrieves all message attachments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Находится на самом верху - это "наблюдатель"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Отслеживает два критических события: изменение сети и состояние приложения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Когда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включается → автоматически передаёт сигнал вниз (стрелка ↓)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2 - Координация:**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Средний слой - "диспетчер"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Получает команды сверху и передаёт вниз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Предоставляет методы для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 (`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downloadFileFromMessage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Управляет паузой/возобновлением очереди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**Слой 3 - Обработка:**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Нижний слой - "рабочий"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Выполняет фактическую загрузку файлов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Использует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useRef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очереди, для остановки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**Why three layers instead of one big component?**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Easier to test (each layer separately)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Easier to maintain (changes in one layer don't break others)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Clear separation of concerns</a:t>
            </a: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901DB-22EC-FBF4-E855-9DB698733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3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12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9E51-0D30-A0CC-E45C-58A9F562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1739E-C183-1C88-2F5F-477BAF608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90196-14DA-DF28-A5EF-8B30EEBA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F92B-CF6B-8254-5225-19683DB57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20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5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38ED-28BD-E374-A9D4-B2DCC81B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856D8-B7BE-B819-16B3-955A38781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AAEE1-0891-043D-D1FC-02805F45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9318A-0610-941D-1685-CC5135E1D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0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5DC2-9298-6DF2-A3DF-510251D3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F04FF-2A9C-1E81-5FA8-EED8539A6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B8DBD-E87D-C82A-8732-99835309A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4C562-2ABC-3285-AC74-D56463B69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79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6704-A2A4-63EC-9D7F-3C78DD92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D7F7B-EAB5-B861-D7E0-36823427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A54C2-67C7-FE2E-FB8C-D47461FEB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DCFEF-3194-2B76-474D-A48325C28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71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4942-49F2-DD51-A0C3-EBA49A59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D0E68-377A-E327-5E6A-8286E3BD4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06345-99B2-A986-3730-9EBD20D89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5F6E-9D75-C33B-0AE9-14B2FE017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5B459-FFF6-BB41-936F-F0C2046ABC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4714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5D57-71E3-8848-AD6C-1E7E539CE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F5A04-5F52-4A41-9488-BDF01827B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06461-7686-984F-98D8-C877CB60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B918-417E-C044-A16C-13235192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2F0A4-AB51-EF4C-B5C3-E709DC91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782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B7AE-7BC7-FE46-B0A6-D9AA0DBF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BD63E-ABDA-A542-8EBE-172C3972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B3DB-552A-D348-9138-CBCBC166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56DA-62C5-454F-8AFB-C58C4677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3694C-C89D-5348-AAA8-28BE73CE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337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DB88-5CED-C24F-94DF-BF8457AED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6983-3ADF-C547-A11F-33F1D465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728D3-9C56-1B41-99C5-693D00F1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0CBE-A170-9543-993D-DEE52655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6226D-8225-A74E-B559-EDF07720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2637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F030-A314-FE45-A159-E92FF501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D4B5-8A05-2C4C-8B4E-D91DC968E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5E845-F07E-0A44-A3B6-729E6EAA7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9E559-0F31-104C-AB0D-90AA65AB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AD080-3AD1-2C4A-8955-AC058A47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58343-A256-774A-AD11-6B5302D92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6674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62CD-66C4-AC4E-BF1A-80FB6528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E3339-1A9F-B74B-A96A-BA60FEE2E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CA46D-F2C8-8A42-B95A-290FD64FB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5FDBA8-9760-AE40-8D36-D0CB6CB27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86FA9-E315-7E4C-8F2B-91C9DE559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C4B2A-0F6D-3F4F-B462-89F16BFE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10693-6485-F94F-A59F-AAC72044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35B2E-240F-1447-9296-F42D45A0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275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EFF6-20DC-5149-8727-0B248785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92E93-D981-FC44-9531-E607B09C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3E6A5-C3DD-A246-A5F8-68B0B329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0034F-3DD9-C442-A22B-8B1FED84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4207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30E23-4F18-E74C-834A-39DB51C7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0CD6B-95FF-3243-8D10-53FCE37E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DF7F0-9CD3-464A-9902-2E70DD0A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222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2EE2-DF7B-9E4E-A058-BE9122AC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3C03-39A4-3A48-9BA5-F9F26282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>
                <a:latin typeface="Etelka Text" panose="02000503030000020004" pitchFamily="2" charset="0"/>
              </a:defRPr>
            </a:lvl1pPr>
            <a:lvl2pPr>
              <a:defRPr sz="2800" b="0" i="0">
                <a:latin typeface="Etelka Text" panose="02000503030000020004" pitchFamily="2" charset="0"/>
              </a:defRPr>
            </a:lvl2pPr>
            <a:lvl3pPr>
              <a:defRPr sz="2400" b="0" i="0">
                <a:latin typeface="Etelka Text" panose="02000503030000020004" pitchFamily="2" charset="0"/>
              </a:defRPr>
            </a:lvl3pPr>
            <a:lvl4pPr>
              <a:defRPr sz="2000" b="0" i="0">
                <a:latin typeface="Etelka Text" panose="02000503030000020004" pitchFamily="2" charset="0"/>
              </a:defRPr>
            </a:lvl4pPr>
            <a:lvl5pPr>
              <a:defRPr sz="2000" b="0" i="0">
                <a:latin typeface="Etelka Text" panose="02000503030000020004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40379-AC17-FC4F-B8E0-87705B52A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Etelka Text" panose="02000503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830A4-84B1-3D4B-9C08-AE15CF63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AB1CD-AE42-F842-B147-EEE4E510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A9F07-F859-CB49-98AC-56AE0A59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6925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4B01-D111-5541-8F4F-299C4E02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AF35E-F407-D248-B3E5-C44F2E6023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>
                <a:latin typeface="Etelka Text" panose="02000503030000020004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B9EEA-91CA-6A44-8781-62162457F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>
                <a:latin typeface="Etelka Text" panose="02000503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EDCA8-3B4A-CF4B-852B-C73B067E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2CB06-2417-F144-AA21-FDF0C022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B06D9-0D44-D542-96C9-3DD2F094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3819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4F39-A193-7345-B8F9-0F2B8558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2B8EE-64A8-624E-99C4-B49A8F42A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CA825-010F-CB4B-864F-8B553793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86C4-844A-FF43-94CE-F76C733D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57BF-1934-DE4D-9BAA-2C3F904A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1112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63B55A-AC79-F14A-960B-401EE9563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9A658-1170-374B-860B-5017CCEDB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>
                <a:latin typeface="Etelka Text" panose="02000503030000020004" pitchFamily="2" charset="0"/>
              </a:defRPr>
            </a:lvl1pPr>
            <a:lvl2pPr>
              <a:defRPr b="0" i="0">
                <a:latin typeface="Etelka Text" panose="02000503030000020004" pitchFamily="2" charset="0"/>
              </a:defRPr>
            </a:lvl2pPr>
            <a:lvl3pPr>
              <a:defRPr b="0" i="0">
                <a:latin typeface="Etelka Text" panose="02000503030000020004" pitchFamily="2" charset="0"/>
              </a:defRPr>
            </a:lvl3pPr>
            <a:lvl4pPr>
              <a:defRPr b="0" i="0">
                <a:latin typeface="Etelka Text" panose="02000503030000020004" pitchFamily="2" charset="0"/>
              </a:defRPr>
            </a:lvl4pPr>
            <a:lvl5pPr>
              <a:defRPr b="0" i="0">
                <a:latin typeface="Etelka Text" panose="0200050303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52A12-55E9-5847-B9D8-A61A1567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865F4-B8EB-3B4B-8C35-9DBDCC7C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C0FA-D391-784A-941A-2E67A5BB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1089360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1D6AB-F600-D540-B7CA-30B206BC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54AF8-7DA1-A147-9DA3-EC96B4EC4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B190E-E542-6543-88AA-39A8F8CB1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fld id="{A7165E14-5C32-B645-9D0E-B02B4DD42A5C}" type="datetimeFigureOut">
              <a:rPr lang="en-RU" smtClean="0"/>
              <a:pPr/>
              <a:t>2/2/26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D390B-6EB6-8B45-AD93-6FA2DC98A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12A9-8B37-AF45-A62C-9BD53485A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Etelka Text" panose="02000503030000020004" pitchFamily="2" charset="0"/>
              </a:defRPr>
            </a:lvl1pPr>
          </a:lstStyle>
          <a:p>
            <a:fld id="{2A5A4982-3F61-BE40-91E4-C18D0B6A007F}" type="slidenum">
              <a:rPr lang="en-RU" smtClean="0"/>
              <a:pPr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22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Etelka Text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Etelka Text" panose="0200050303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C5DD-4A8A-6544-AD3B-57D0B4943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8456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Etelka Text"/>
                <a:cs typeface="Segoe UI"/>
              </a:rPr>
              <a:t>React Native key insights from production experience: Queue based download attachments management</a:t>
            </a:r>
            <a:endParaRPr lang="en-US" sz="4800" dirty="0">
              <a:solidFill>
                <a:schemeClr val="bg1"/>
              </a:solidFill>
              <a:latin typeface="Etelka Tex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22483-00B9-AD43-8E4F-024C1FD86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1386"/>
            <a:ext cx="9144000" cy="1655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>
                <a:latin typeface="Etelka Text"/>
              </a:rPr>
              <a:t>Yuri Dunets, Software Engineer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72F6C-C644-9F4B-8767-AE6D9748F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897" y="6000200"/>
            <a:ext cx="1009368" cy="72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A42B-22EC-610F-7DC6-C828ED85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098D4-B596-9990-5CD6-79D48639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900" b="1" dirty="0"/>
              <a:t>Download message attachments system</a:t>
            </a: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B023-343B-2B78-C33F-6537C318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Etelka Text"/>
              </a:rPr>
              <a:t>Task: </a:t>
            </a:r>
            <a:r>
              <a:rPr lang="en-US" dirty="0">
                <a:latin typeface="Etelka Text"/>
              </a:rPr>
              <a:t>I</a:t>
            </a:r>
            <a:r>
              <a:rPr lang="en-US" dirty="0"/>
              <a:t>mplement a message attachment download queue with support for: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Automatic queue management upon network connection restoration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Processing pause/resume without data loss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Prioritization of urgent downloads (interrupting current queue)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File caching in local file system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Instant access to previously downloaded files without internet connection (offline access from cache)</a:t>
            </a:r>
          </a:p>
          <a:p>
            <a:pPr>
              <a:buClr>
                <a:srgbClr val="C00000"/>
              </a:buClr>
            </a:pPr>
            <a:endParaRPr lang="en-US" sz="1800" dirty="0"/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ABBD8-B7B8-C043-185C-573DD533B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3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09AC4-BF84-6FDE-3352-BBDE616F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DEC3-CCDF-7341-33ED-FBD11BD1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Etelka Medium" panose="02000803070000020004" pitchFamily="2" charset="0"/>
              </a:rPr>
              <a:t>Technology used: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12D5F-6030-7C35-CCB7-CB4D1C53E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C00000"/>
              </a:buClr>
            </a:pPr>
            <a:r>
              <a:rPr lang="en-US" sz="1800" b="1" dirty="0"/>
              <a:t>Expo File System </a:t>
            </a:r>
            <a:r>
              <a:rPr lang="en-US" sz="1800" dirty="0"/>
              <a:t>– Cache validation + File persistence + Offline access. Instant file opening without re-download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RN Fetch Blob Util </a:t>
            </a:r>
            <a:r>
              <a:rPr lang="en-US" sz="1800" dirty="0"/>
              <a:t>– Binary downloads + Progress tracking + Base64 conversion. Real-time progress statistic for large files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Net Info / App State </a:t>
            </a:r>
            <a:r>
              <a:rPr lang="en-US" sz="1800" dirty="0"/>
              <a:t>- Network state monitoring. Auto-resume downloads when connection restored. App foreground/background detection</a:t>
            </a:r>
          </a:p>
          <a:p>
            <a:pPr>
              <a:buClr>
                <a:srgbClr val="C00000"/>
              </a:buClr>
            </a:pPr>
            <a:r>
              <a:rPr lang="en-US" sz="1800" b="1" dirty="0"/>
              <a:t>React Context API </a:t>
            </a:r>
            <a:r>
              <a:rPr lang="en-US" sz="1800" dirty="0"/>
              <a:t>- Global download API + Queue coordination. Download from any screen without prop drilling</a:t>
            </a: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BBA46-BBD7-4869-60DF-76E1DC1F4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85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98934-58F1-36DD-AA99-F8FDBE42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C371-436E-BB25-DB81-8D7EACB5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Updated Architecture Overview - Implementation Components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6534D-292F-B4B0-A481-AAC5BDA2A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825625"/>
            <a:ext cx="101513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Char char="•"/>
            </a:pPr>
            <a:r>
              <a:rPr lang="en-GB" sz="1400" b="1" dirty="0">
                <a:cs typeface="Segoe UI"/>
              </a:rPr>
              <a:t>Core Infrastructure</a:t>
            </a:r>
            <a:endParaRPr lang="en-GB" sz="14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DownloadMessageAttachmentsContext: Central coordination layer</a:t>
            </a:r>
            <a:endParaRPr lang="en-GB" sz="12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useManageProcessingQueue: Queue processing hook</a:t>
            </a:r>
            <a:endParaRPr lang="en-GB" sz="1200" dirty="0">
              <a:cs typeface="Segoe UI"/>
            </a:endParaRPr>
          </a:p>
          <a:p>
            <a:pPr marL="0" indent="0">
              <a:buClr>
                <a:srgbClr val="C00000"/>
              </a:buClr>
              <a:buChar char="•"/>
            </a:pPr>
            <a:r>
              <a:rPr lang="en-GB" sz="1400" b="1" dirty="0">
                <a:cs typeface="Segoe UI"/>
              </a:rPr>
              <a:t>State Management (Zustand)</a:t>
            </a:r>
            <a:endParaRPr lang="en-GB" sz="14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downloadQueueStore: Persistent queue state</a:t>
            </a:r>
            <a:endParaRPr lang="en-GB" sz="12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downloadProgressStore: Progress tracking</a:t>
            </a:r>
            <a:endParaRPr lang="en-GB" sz="12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authStore: Authentication tokens</a:t>
            </a:r>
            <a:endParaRPr lang="en-GB" sz="1200" dirty="0">
              <a:cs typeface="Segoe UI"/>
            </a:endParaRPr>
          </a:p>
          <a:p>
            <a:pPr marL="0" indent="0">
              <a:buClr>
                <a:srgbClr val="C00000"/>
              </a:buClr>
              <a:buChar char="•"/>
            </a:pPr>
            <a:r>
              <a:rPr lang="en-GB" sz="1400" b="1" dirty="0">
                <a:cs typeface="Segoe UI"/>
              </a:rPr>
              <a:t>Network &amp; Platform Hooks</a:t>
            </a:r>
            <a:endParaRPr lang="en-GB" sz="14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useDownloadMessageAttachments: Auto-trigger hook</a:t>
            </a:r>
            <a:endParaRPr lang="en-GB" sz="12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useNetInfo + useAppState: Platform monitoring</a:t>
            </a:r>
            <a:endParaRPr lang="en-GB" sz="1200" dirty="0">
              <a:cs typeface="Segoe UI"/>
            </a:endParaRPr>
          </a:p>
          <a:p>
            <a:pPr marL="0" indent="0">
              <a:buClr>
                <a:srgbClr val="C00000"/>
              </a:buClr>
              <a:buChar char="•"/>
            </a:pPr>
            <a:r>
              <a:rPr lang="en-GB" sz="1400" b="1" dirty="0">
                <a:cs typeface="Segoe UI"/>
              </a:rPr>
              <a:t>File System Layer</a:t>
            </a:r>
            <a:endParaRPr lang="en-GB" sz="14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expo-file-system: Cache management</a:t>
            </a:r>
            <a:endParaRPr lang="en-GB" sz="1200" dirty="0">
              <a:cs typeface="Segoe UI"/>
            </a:endParaRPr>
          </a:p>
          <a:p>
            <a:pPr marL="457200" indent="0">
              <a:buClr>
                <a:srgbClr val="C00000"/>
              </a:buClr>
              <a:buChar char="◦"/>
            </a:pPr>
            <a:r>
              <a:rPr lang="en-GB" sz="1200" dirty="0">
                <a:cs typeface="Segoe UI"/>
              </a:rPr>
              <a:t>react-native-blob-util: Download execution</a:t>
            </a:r>
            <a:endParaRPr lang="en-GB" sz="1200" dirty="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C95DA3-554A-92EC-5FE8-2DBA0B822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A977AC-D61C-BB12-FA95-F5909E0F5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222" y="1690688"/>
            <a:ext cx="3950043" cy="499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6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E4B41-3759-41FB-69FF-F0EC99EA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BE49-83A8-7B6E-339A-A105342B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132556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Data Flow - From trigger to download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3100" dirty="0"/>
              <a:t>   </a:t>
            </a:r>
            <a:r>
              <a:rPr lang="en-US" dirty="0"/>
              <a:t>				</a:t>
            </a:r>
            <a:r>
              <a:rPr lang="en-US" sz="3100" b="1" dirty="0"/>
              <a:t> </a:t>
            </a:r>
            <a:br>
              <a:rPr lang="en-GB" sz="3100" b="1" dirty="0">
                <a:solidFill>
                  <a:srgbClr val="569CD6"/>
                </a:solidFill>
                <a:cs typeface="Segoe UI"/>
              </a:rPr>
            </a:br>
            <a:br>
              <a:rPr lang="en-US" sz="3100" dirty="0"/>
            </a:br>
            <a:endParaRPr lang="en-US" sz="3100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1E328-FDF3-124A-D245-B9DD37567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6131244"/>
            <a:ext cx="193165" cy="45719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1600" b="1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DD836-9A35-C6A1-3D32-D1CA76E25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95B7B5-93FD-D396-E12C-D5EB5F605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240965"/>
            <a:ext cx="3462700" cy="5427161"/>
          </a:xfrm>
          <a:prstGeom prst="rect">
            <a:avLst/>
          </a:prstGeom>
        </p:spPr>
      </p:pic>
      <p:pic>
        <p:nvPicPr>
          <p:cNvPr id="19" name="Picture 1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C231295-2FB3-BDEC-9148-684E28FAE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080" y="1220245"/>
            <a:ext cx="4281819" cy="542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3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18388-0842-8F71-3432-29C4F0F2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5612-F56D-C842-B9F6-C595DFE0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5"/>
            <a:ext cx="10151301" cy="746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/>
              <a:t>Priority via pause/download/resume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D585-8286-3550-0517-367C6DE3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248031"/>
            <a:ext cx="10610561" cy="4928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b="1" dirty="0"/>
              <a:t>Scenario</a:t>
            </a:r>
            <a:r>
              <a:rPr lang="en-US" dirty="0"/>
              <a:t>: User pressed "Download now" on urgent file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2BE5A-FA16-6286-090F-8A21C26A8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0C4D7A-F430-5379-A800-D66E01127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228" y="1863985"/>
            <a:ext cx="3938178" cy="485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8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478C1-249F-CFA8-03DC-9006B6F0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50B4-0F94-D653-E0DF-DAA1B14F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349" y="346912"/>
            <a:ext cx="10151301" cy="5627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 </a:t>
            </a:r>
            <a:r>
              <a:rPr lang="en-US" b="1" dirty="0" err="1"/>
              <a:t>useManageProcessingQueue</a:t>
            </a:r>
            <a:r>
              <a:rPr lang="en-US" b="1" dirty="0"/>
              <a:t> hook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C0D4-D871-7B39-FB8A-A1BF356E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9" y="1111341"/>
            <a:ext cx="9744544" cy="887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n-US" b="1" dirty="0"/>
              <a:t>Purpose</a:t>
            </a:r>
            <a:r>
              <a:rPr lang="en-US" dirty="0"/>
              <a:t>: internal queue management hook that manages queue data structure and processing state</a:t>
            </a: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532953-6E3C-702C-BE97-7373C16D9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60010C-F8AE-FA47-2BB7-0049DE346DB5}"/>
              </a:ext>
            </a:extLst>
          </p:cNvPr>
          <p:cNvSpPr txBox="1">
            <a:spLocks/>
          </p:cNvSpPr>
          <p:nvPr/>
        </p:nvSpPr>
        <p:spPr>
          <a:xfrm>
            <a:off x="1202498" y="2837328"/>
            <a:ext cx="10303701" cy="59167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Etelka Text" panose="02000503030000020004" pitchFamily="2" charset="0"/>
                <a:ea typeface="+mj-ea"/>
                <a:cs typeface="+mj-cs"/>
              </a:defRPr>
            </a:lvl1pPr>
          </a:lstStyle>
          <a:p>
            <a:endParaRPr lang="en-US" b="1"/>
          </a:p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024F45-F27F-1773-E087-6CC1D15F1CA3}"/>
              </a:ext>
            </a:extLst>
          </p:cNvPr>
          <p:cNvSpPr txBox="1"/>
          <p:nvPr/>
        </p:nvSpPr>
        <p:spPr>
          <a:xfrm>
            <a:off x="1202498" y="3022918"/>
            <a:ext cx="7944863" cy="31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600">
              <a:latin typeface="Arial"/>
              <a:cs typeface="Arial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E0157811-DE2A-193E-7146-DFB32D24F23D}"/>
              </a:ext>
            </a:extLst>
          </p:cNvPr>
          <p:cNvSpPr txBox="1">
            <a:spLocks/>
          </p:cNvSpPr>
          <p:nvPr/>
        </p:nvSpPr>
        <p:spPr>
          <a:xfrm>
            <a:off x="1202498" y="3724832"/>
            <a:ext cx="10303701" cy="726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Etelka Text" panose="02000503030000020004" pitchFamily="2" charset="0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74A50-AD96-C55A-5BA2-856CB7C09806}"/>
              </a:ext>
            </a:extLst>
          </p:cNvPr>
          <p:cNvSpPr txBox="1"/>
          <p:nvPr/>
        </p:nvSpPr>
        <p:spPr>
          <a:xfrm>
            <a:off x="4464424" y="41282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9" name="Picture 18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42319C6B-1E53-3470-ED14-9CBEBB11A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146" y="2200552"/>
            <a:ext cx="5542082" cy="35920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2C25F4-A06E-386B-4145-666810FCE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498" y="2200552"/>
            <a:ext cx="4746810" cy="410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3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44042-99D4-372D-F686-EFBC6356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7941D-95C6-3580-4012-7A08FF28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Etelka Medium" panose="02000803070000020004" pitchFamily="2" charset="0"/>
              </a:rPr>
              <a:t>Download file process (</a:t>
            </a:r>
            <a:r>
              <a:rPr lang="en-US" b="1" dirty="0">
                <a:latin typeface="Etelka Medium" panose="02000803070000020004" pitchFamily="2" charset="0"/>
              </a:rPr>
              <a:t>s</a:t>
            </a:r>
            <a:r>
              <a:rPr lang="en-US" b="1" dirty="0"/>
              <a:t>tep-by-step mechanism)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27A6-AE5A-3B73-3251-22D16CEB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609859"/>
            <a:ext cx="10151301" cy="4567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Authentication (get token, early exit if unavailable)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Prepare file system (create directory, generate paths)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Configure download (RN Fetch Blob setup with native mobile path)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Execute HTTP request 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Track progress (callback with percentage calculation)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Validate response (HTTP status check)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Return result (file path on success)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29584-6B66-4A8B-88AB-D1998E3D9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4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37064-E12F-D416-0FC1-88BEE22E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63A2-6BDD-B453-CCBD-818F2F34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/>
              <a:t>Process queue (step-by-step mechanism)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C5B9-08F1-D6AE-2BDD-EDD234F95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498" y="1146220"/>
            <a:ext cx="10151301" cy="50307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en-GB" sz="900" b="1" dirty="0">
              <a:solidFill>
                <a:srgbClr val="569CD6"/>
              </a:solidFill>
              <a:latin typeface="Menlo"/>
              <a:cs typeface="Segoe UI"/>
            </a:endParaRPr>
          </a:p>
          <a:p>
            <a:pPr>
              <a:buClr>
                <a:srgbClr val="C00000"/>
              </a:buClr>
            </a:pPr>
            <a:r>
              <a:rPr lang="en-US" sz="1800" dirty="0"/>
              <a:t>Start processing (set flag processing to true)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Get current file (read from queue)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Attempt download (call download file method)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Handle download result (</a:t>
            </a:r>
            <a:r>
              <a:rPr lang="en-US" sz="1800" i="1" dirty="0"/>
              <a:t>if download failed (success = false) =&gt; b</a:t>
            </a:r>
            <a:r>
              <a:rPr lang="en-US" sz="1900" i="1" dirty="0"/>
              <a:t>reak out of loop (critical error, stop processing entirely; if download succeeded continue to next step</a:t>
            </a:r>
            <a:r>
              <a:rPr lang="en-US" sz="1900" dirty="0"/>
              <a:t>)</a:t>
            </a:r>
            <a:endParaRPr lang="en-US" sz="1800" dirty="0"/>
          </a:p>
          <a:p>
            <a:pPr>
              <a:buClr>
                <a:srgbClr val="C00000"/>
              </a:buClr>
            </a:pPr>
            <a:r>
              <a:rPr lang="en-US" sz="1800" dirty="0"/>
              <a:t>Remove completed file 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Check pause flag (</a:t>
            </a:r>
            <a:r>
              <a:rPr lang="en-US" sz="1900" dirty="0"/>
              <a:t>If </a:t>
            </a:r>
            <a:r>
              <a:rPr lang="en-US" sz="1900" b="1" dirty="0"/>
              <a:t>true</a:t>
            </a:r>
            <a:r>
              <a:rPr lang="en-US" sz="1900" dirty="0"/>
              <a:t>, reset should stop flag to false, break out of loop, remaining files stay in queue</a:t>
            </a:r>
            <a:r>
              <a:rPr lang="en-US" sz="1800" dirty="0"/>
              <a:t>; If </a:t>
            </a:r>
            <a:r>
              <a:rPr lang="en-US" sz="1800" b="1" dirty="0"/>
              <a:t>false</a:t>
            </a:r>
            <a:r>
              <a:rPr lang="en-US" sz="1800" dirty="0"/>
              <a:t> continue loop to next file)</a:t>
            </a:r>
          </a:p>
          <a:p>
            <a:pPr>
              <a:buClr>
                <a:srgbClr val="C00000"/>
              </a:buClr>
            </a:pPr>
            <a:r>
              <a:rPr lang="en-US" sz="1800" dirty="0"/>
              <a:t>Complete processing (cleanup)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1600" b="1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GB" sz="1400" dirty="0">
              <a:cs typeface="Segoe UI"/>
            </a:endParaRPr>
          </a:p>
          <a:p>
            <a:pPr marL="0" indent="0">
              <a:buClr>
                <a:srgbClr val="C00000"/>
              </a:buClr>
              <a:buNone/>
            </a:pPr>
            <a:endParaRPr lang="en-RU" sz="14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4C70A-BB46-C2EF-1BC1-B79FE6B08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F179B-F66A-DEA1-78A3-8C25EF0B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5C2E-0E6C-D6D4-88AB-5E905A1A0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 err="1"/>
              <a:t>useDownloadMessageAttachments</a:t>
            </a:r>
            <a:r>
              <a:rPr lang="en-US" b="1" dirty="0"/>
              <a:t> (auto-start)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10" name="Content Placeholder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FC277C9-799D-E551-DA23-5E2607FEB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005443" y="1481070"/>
            <a:ext cx="4095027" cy="503078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C16A6B-F584-0297-4EF9-46C26DB6C2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2CA036-7929-9E94-724C-4D207FE1E090}"/>
              </a:ext>
            </a:extLst>
          </p:cNvPr>
          <p:cNvSpPr txBox="1"/>
          <p:nvPr/>
        </p:nvSpPr>
        <p:spPr>
          <a:xfrm>
            <a:off x="1197735" y="1854558"/>
            <a:ext cx="56795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GATHER DEPENDENCIES:</a:t>
            </a:r>
          </a:p>
          <a:p>
            <a:endParaRPr lang="en-US" b="1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Get attachments</a:t>
            </a:r>
            <a:r>
              <a:rPr lang="en-US" dirty="0"/>
              <a:t>: List from </a:t>
            </a:r>
            <a:r>
              <a:rPr lang="en-US" dirty="0" err="1"/>
              <a:t>useMessageAttachments</a:t>
            </a:r>
            <a:r>
              <a:rPr lang="en-US" dirty="0"/>
              <a:t> (React Query)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isAppActive</a:t>
            </a:r>
            <a:r>
              <a:rPr lang="en-US" dirty="0"/>
              <a:t>: App state from </a:t>
            </a:r>
            <a:r>
              <a:rPr lang="en-US" dirty="0" err="1"/>
              <a:t>useAppState</a:t>
            </a:r>
            <a:r>
              <a:rPr lang="en-US" dirty="0"/>
              <a:t> (foreground/background)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isConnected</a:t>
            </a:r>
            <a:r>
              <a:rPr lang="en-US" dirty="0"/>
              <a:t>: Network state from </a:t>
            </a:r>
            <a:r>
              <a:rPr lang="en-US" dirty="0" err="1"/>
              <a:t>useNetInfo</a:t>
            </a:r>
            <a:r>
              <a:rPr lang="en-US" dirty="0"/>
              <a:t> (online/offline)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6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8CE3A-8BB7-5560-36AE-D82F65C9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2607-D241-3852-DAE8-90AD53D9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98" y="365126"/>
            <a:ext cx="10151301" cy="11159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b="1" dirty="0" err="1"/>
              <a:t>useDownloadMessageAttachments</a:t>
            </a:r>
            <a:r>
              <a:rPr lang="en-US" b="1" dirty="0"/>
              <a:t> (reactive effect)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181F5-63BA-269B-D835-BC976E6F8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695" y="6176962"/>
            <a:ext cx="761569" cy="543251"/>
          </a:xfrm>
          <a:prstGeom prst="rect">
            <a:avLst/>
          </a:prstGeom>
        </p:spPr>
      </p:pic>
      <p:pic>
        <p:nvPicPr>
          <p:cNvPr id="14" name="Content Placeholder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BF4386-E89C-0D65-27D7-838E410C9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56576" y="1783331"/>
            <a:ext cx="3872248" cy="4838332"/>
          </a:xfrm>
        </p:spPr>
      </p:pic>
    </p:spTree>
    <p:extLst>
      <p:ext uri="{BB962C8B-B14F-4D97-AF65-F5344CB8AC3E}">
        <p14:creationId xmlns:p14="http://schemas.microsoft.com/office/powerpoint/2010/main" val="109782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DB1C31E031D846BFFCE8171CF9F223" ma:contentTypeVersion="15" ma:contentTypeDescription="Create a new document." ma:contentTypeScope="" ma:versionID="ebcd40ac02da56390213878d17957253">
  <xsd:schema xmlns:xsd="http://www.w3.org/2001/XMLSchema" xmlns:xs="http://www.w3.org/2001/XMLSchema" xmlns:p="http://schemas.microsoft.com/office/2006/metadata/properties" xmlns:ns2="b7a92821-2bf6-496d-9ff3-f61bf16c8fc1" xmlns:ns3="5e911046-4f08-482e-ae11-267a58cd703f" targetNamespace="http://schemas.microsoft.com/office/2006/metadata/properties" ma:root="true" ma:fieldsID="550d2b69c6254e0f25334ee38476f237" ns2:_="" ns3:_="">
    <xsd:import namespace="b7a92821-2bf6-496d-9ff3-f61bf16c8fc1"/>
    <xsd:import namespace="5e911046-4f08-482e-ae11-267a58cd70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92821-2bf6-496d-9ff3-f61bf16c8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a485094-5e74-4503-8f9d-b0517fb44b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11046-4f08-482e-ae11-267a58cd703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4a1dc8-b6a2-4048-8d11-828688ac5128}" ma:internalName="TaxCatchAll" ma:showField="CatchAllData" ma:web="5e911046-4f08-482e-ae11-267a58cd7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e911046-4f08-482e-ae11-267a58cd703f" xsi:nil="true"/>
    <lcf76f155ced4ddcb4097134ff3c332f xmlns="b7a92821-2bf6-496d-9ff3-f61bf16c8fc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F05AFF-BEB5-4804-B70D-353744C09B19}">
  <ds:schemaRefs>
    <ds:schemaRef ds:uri="5e911046-4f08-482e-ae11-267a58cd703f"/>
    <ds:schemaRef ds:uri="b7a92821-2bf6-496d-9ff3-f61bf16c8f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A8E68C-9049-4A98-834E-5489E93899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F54A2E-EC7C-4272-9F2E-B948745AA12C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5e911046-4f08-482e-ae11-267a58cd703f"/>
    <ds:schemaRef ds:uri="http://purl.org/dc/elements/1.1/"/>
    <ds:schemaRef ds:uri="http://purl.org/dc/terms/"/>
    <ds:schemaRef ds:uri="b7a92821-2bf6-496d-9ff3-f61bf16c8fc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705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Etelka Medium</vt:lpstr>
      <vt:lpstr>Etelka Text</vt:lpstr>
      <vt:lpstr>Menlo</vt:lpstr>
      <vt:lpstr>Segoe UI</vt:lpstr>
      <vt:lpstr>Office Theme</vt:lpstr>
      <vt:lpstr>React Native key insights from production experience: Queue based download attachments management</vt:lpstr>
      <vt:lpstr>Download message attachments system    </vt:lpstr>
      <vt:lpstr>Technology used: </vt:lpstr>
      <vt:lpstr>Architecture overview - System components. </vt:lpstr>
      <vt:lpstr>Data Flow - From trigger to download               </vt:lpstr>
      <vt:lpstr>Priority via pause/download/resume</vt:lpstr>
      <vt:lpstr> useManageProcessingQueue hook   </vt:lpstr>
      <vt:lpstr>Download file process (step-by-step mechanism)     </vt:lpstr>
      <vt:lpstr>Process queue (step-by-step mechanism)     </vt:lpstr>
      <vt:lpstr>useDownloadMessageAttachments (auto-start)     </vt:lpstr>
      <vt:lpstr>useDownloadMessageAttachments (reactive effect)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ALL CAPS</dc:title>
  <dc:creator>Anastasia Sinkevich</dc:creator>
  <cp:lastModifiedBy>Yuri Dunets</cp:lastModifiedBy>
  <cp:revision>4</cp:revision>
  <dcterms:created xsi:type="dcterms:W3CDTF">2022-04-01T10:18:25Z</dcterms:created>
  <dcterms:modified xsi:type="dcterms:W3CDTF">2026-02-02T13:23:31Z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0x01010057DB1C31E031D846BFFCE8171CF9F223</vt:lpwstr>
  </property>
  <property fmtid="{D5CDD505-2E9C-101B-9397-08002B2CF9AE}" pid="3" name="MediaServiceImageTags">
    <vt:lpwstr/>
  </property>
</Properties>
</file>